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inematic_travel_themed_logo_illustration_s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376672"/>
            <a:ext cx="12191695" cy="1481328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559552"/>
            <a:ext cx="6675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4EFE1"/>
                </a:solidFill>
                <a:latin typeface="Aptos"/>
              </a:defRPr>
            </a:pPr>
            <a:r>
              <a:t>WORLDBOUND: NOMAD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01675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B4A7"/>
                </a:solidFill>
                <a:latin typeface="Aptos"/>
              </a:defRPr>
            </a:pPr>
            <a:r>
              <a:t>En KI-assistert reise- og beslutningssimulator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1A4B2"/>
                </a:solidFill>
                <a:latin typeface="Aptos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Slik fungerer spillet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En enkel loop – med stadig nye valg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987552"/>
            <a:ext cx="1371600" cy="768096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8968" y="1261872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B4A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7734" y="2282813"/>
            <a:ext cx="1371600" cy="768096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1742" y="2557133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D9EDC"/>
                </a:solidFill>
                <a:latin typeface="Aptos"/>
              </a:defRPr>
            </a:pPr>
            <a:r>
              <a:t>REIS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6775" y="4378590"/>
            <a:ext cx="1371600" cy="768096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0783" y="4652910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BC256"/>
                </a:solidFill>
                <a:latin typeface="Aptos"/>
              </a:defRPr>
            </a:pPr>
            <a:r>
              <a:t>OPPLEV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3144" y="4378590"/>
            <a:ext cx="1371600" cy="768096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7152" y="4652910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F7053"/>
                </a:solidFill>
                <a:latin typeface="Aptos"/>
              </a:defRPr>
            </a:pPr>
            <a:r>
              <a:t>JOBB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2185" y="2282813"/>
            <a:ext cx="1371600" cy="768096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6193" y="2557133"/>
            <a:ext cx="12435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B4A7"/>
                </a:solidFill>
                <a:latin typeface="Aptos"/>
              </a:defRPr>
            </a:pPr>
            <a:r>
              <a:t>VIDERE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871216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4EFE1"/>
                </a:solidFill>
                <a:latin typeface="Aptos"/>
              </a:defRPr>
            </a:pPr>
            <a:r>
              <a:t>SPILLEREN</a:t>
            </a:r>
            <a:br/>
            <a:r>
              <a:t>prioriterer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79311" y="2179903"/>
            <a:ext cx="99617" cy="72375"/>
          </a:xfrm>
          <a:prstGeom prst="line">
            <a:avLst/>
          </a:prstGeom>
          <a:ln w="1905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72606" y="3581002"/>
            <a:ext cx="38050" cy="117107"/>
          </a:xfrm>
          <a:prstGeom prst="line">
            <a:avLst/>
          </a:prstGeom>
          <a:ln w="1905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19193" y="4519305"/>
            <a:ext cx="123133" cy="0"/>
          </a:xfrm>
          <a:prstGeom prst="line">
            <a:avLst/>
          </a:prstGeom>
          <a:ln w="1905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850863" y="3581002"/>
            <a:ext cx="38050" cy="117107"/>
          </a:xfrm>
          <a:prstGeom prst="line">
            <a:avLst/>
          </a:prstGeom>
          <a:ln w="1905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82591" y="2179903"/>
            <a:ext cx="99617" cy="72375"/>
          </a:xfrm>
          <a:prstGeom prst="line">
            <a:avLst/>
          </a:prstGeom>
          <a:ln w="1905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39496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EFE1"/>
                </a:solidFill>
                <a:latin typeface="Aptos"/>
              </a:defRPr>
            </a:pPr>
            <a:r>
              <a:t>• Penger bestem hvilke valg som er mulige</a:t>
            </a:r>
          </a:p>
          <a:p>
            <a:pPr>
              <a:spcAft>
                <a:spcPts val="800"/>
              </a:spcAft>
              <a:defRPr sz="1300">
                <a:solidFill>
                  <a:srgbClr val="F4EFE1"/>
                </a:solidFill>
                <a:latin typeface="Aptos"/>
              </a:defRPr>
            </a:pPr>
            <a:r>
              <a:t>• Tid bestemmer hvor langt du rekker</a:t>
            </a:r>
          </a:p>
          <a:p>
            <a:pPr>
              <a:spcAft>
                <a:spcPts val="800"/>
              </a:spcAft>
              <a:defRPr sz="1300">
                <a:solidFill>
                  <a:srgbClr val="F4EFE1"/>
                </a:solidFill>
                <a:latin typeface="Aptos"/>
              </a:defRPr>
            </a:pPr>
            <a:r>
              <a:t>• Valg i én by påvirker neste etappe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Første versjon –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Det vi må få til først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1790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KART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92807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Flere internasjonale</a:t>
            </a:r>
            <a:br/>
            <a:r>
              <a:t>destinasjoner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361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151790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D9EDC"/>
                </a:solidFill>
                <a:latin typeface="Aptos"/>
              </a:defRPr>
            </a:pPr>
            <a:r>
              <a:t>REISE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1892807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Transport, pris</a:t>
            </a:r>
            <a:br/>
            <a:r>
              <a:t>og tidsbruk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15361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37160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1790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BC256"/>
                </a:solidFill>
                <a:latin typeface="Aptos"/>
              </a:defRPr>
            </a:pPr>
            <a:r>
              <a:t>ØKONOMI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92807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Penger, utgifter</a:t>
            </a:r>
            <a:br/>
            <a:r>
              <a:t>og progresjon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19104" y="15361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2044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6674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F7053"/>
                </a:solidFill>
                <a:latin typeface="Aptos"/>
              </a:defRPr>
            </a:pPr>
            <a:r>
              <a:t>JOBB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041648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Arbeid som gir</a:t>
            </a:r>
            <a:br/>
            <a:r>
              <a:t>inntekt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85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52044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366674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OPPGAVER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4041648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Quiz og innhold</a:t>
            </a:r>
            <a:br/>
            <a:r>
              <a:t>knyttet til steder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685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3520440"/>
            <a:ext cx="3429000" cy="169164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666744"/>
            <a:ext cx="30266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D9ED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41648"/>
            <a:ext cx="3026664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Inventar, journal</a:t>
            </a:r>
            <a:br/>
            <a:r>
              <a:t>og lagring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19104" y="3685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91A4B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Mulige utvidelser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MVP først – mer dybde når grunnsystemet fungerer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029968" cy="2057400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92224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7053"/>
                </a:solidFill>
                <a:latin typeface="Aptos"/>
              </a:defRPr>
            </a:pPr>
            <a:r>
              <a:t>HENDELSER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162763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Uforutsette valg</a:t>
            </a:r>
            <a:br/>
            <a:r>
              <a:t>og konsekvenser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29968" cy="205740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792224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B4A7"/>
                </a:solidFill>
                <a:latin typeface="Aptos"/>
              </a:defRPr>
            </a:pPr>
            <a:r>
              <a:t>FERDIGHETER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67128"/>
            <a:ext cx="162763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Progresjon og</a:t>
            </a:r>
            <a:br/>
            <a:r>
              <a:t>spillerutvikling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645920"/>
            <a:ext cx="2029968" cy="2057400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792224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C256"/>
                </a:solidFill>
                <a:latin typeface="Aptos"/>
              </a:defRPr>
            </a:pPr>
            <a:r>
              <a:t>HANDEL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167128"/>
            <a:ext cx="162763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Gjenstander og</a:t>
            </a:r>
            <a:br/>
            <a:r>
              <a:t>økonomiske valg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645920"/>
            <a:ext cx="2029968" cy="205740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1792224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D9EDC"/>
                </a:solidFill>
                <a:latin typeface="Aptos"/>
              </a:defRPr>
            </a:pPr>
            <a:r>
              <a:t>DYNAMIKK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167128"/>
            <a:ext cx="162763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Priser, etterspørsel</a:t>
            </a:r>
            <a:br/>
            <a:r>
              <a:t>og nye ruter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645920"/>
            <a:ext cx="2029968" cy="205740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5248" y="1792224"/>
            <a:ext cx="16276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B4A7"/>
                </a:solidFill>
                <a:latin typeface="Aptos"/>
              </a:defRPr>
            </a:pPr>
            <a:r>
              <a:t>KI-ASSISTENT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2167128"/>
            <a:ext cx="162763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Personlige råd</a:t>
            </a:r>
            <a:br/>
            <a:r>
              <a:t>fra spilldata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B4A7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99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17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D9EDC"/>
                </a:solidFill>
                <a:latin typeface="Aptos"/>
              </a:defRPr>
            </a:pPr>
            <a:r>
              <a:t>DYBDE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599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61772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BC256"/>
                </a:solidFill>
                <a:latin typeface="Aptos"/>
              </a:defRPr>
            </a:pPr>
            <a:r>
              <a:t>SIMULERING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599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6177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EF7053"/>
                </a:solidFill>
                <a:latin typeface="Aptos"/>
              </a:defRPr>
            </a:pPr>
            <a:r>
              <a:t>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902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Vi bygger videre først når kjernen er stabil.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4EFE1"/>
                </a:solidFill>
                <a:latin typeface="Aptos"/>
              </a:defRPr>
            </a:pPr>
            <a:r>
              <a:t>KI-AGENTENE ER ET UTVIKLINGSTEAM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Ulike spesialister gjør hver sin jobb – mennesket leder og godkjenner.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1325880"/>
            <a:ext cx="2240280" cy="1051560"/>
          </a:xfrm>
          <a:prstGeom prst="roundRect">
            <a:avLst/>
          </a:prstGeom>
          <a:solidFill>
            <a:srgbClr val="20394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5270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BC256"/>
                </a:solidFill>
                <a:latin typeface="Aptos"/>
              </a:defRPr>
            </a:pPr>
            <a:r>
              <a:t>MENNESKET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2352" y="18470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4EFE1"/>
                </a:solidFill>
                <a:latin typeface="Aptos"/>
              </a:defRPr>
            </a:pPr>
            <a:r>
              <a:t>mål • krav • vurdering • godkjenning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9077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B4A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1729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SYSTEMARKITEKT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5478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Planlegger struktur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7432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9077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D9E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1729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PROGRAMMERING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35478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Bygger funksjonalitet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7432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9077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F70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1729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5478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Finner feil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7365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BC25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0017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CODE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3766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Sjekker kvalitet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5720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47365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B4A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50017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INNHOLD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53766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Fyller verden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572000"/>
            <a:ext cx="2606040" cy="132588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47365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D9E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500176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DOKUMENTASJON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53766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Forklarer arbeidet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938528" y="2377440"/>
            <a:ext cx="4133088" cy="3657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956048" y="2377440"/>
            <a:ext cx="1115568" cy="3657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71616" y="2377440"/>
            <a:ext cx="1901951" cy="3657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938528" y="2377440"/>
            <a:ext cx="4133088" cy="21945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956048" y="2377440"/>
            <a:ext cx="1115568" cy="21945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71616" y="2377440"/>
            <a:ext cx="1901951" cy="2194560"/>
          </a:xfrm>
          <a:prstGeom prst="line">
            <a:avLst/>
          </a:prstGeom>
          <a:ln w="17780">
            <a:solidFill>
              <a:srgbClr val="91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29800" y="1371600"/>
            <a:ext cx="1691640" cy="4526280"/>
          </a:xfrm>
          <a:prstGeom prst="roundRect">
            <a:avLst/>
          </a:prstGeom>
          <a:solidFill>
            <a:srgbClr val="182F3D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0112" y="1664208"/>
            <a:ext cx="12618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AB4A7"/>
                </a:solidFill>
                <a:latin typeface="Aptos"/>
              </a:defRPr>
            </a:pPr>
            <a:r>
              <a:t>ARBEIDSFLYT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176272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9296" y="217627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Definer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724912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272491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Bygg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3273552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9296" y="327355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3822191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9296" y="382219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Vurder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4370831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9296" y="4370831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Forbedre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4919472"/>
            <a:ext cx="228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BC25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9296" y="491947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0112" y="5230368"/>
            <a:ext cx="1298448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4EFE1"/>
                </a:solidFill>
                <a:latin typeface="Aptos"/>
              </a:defRPr>
            </a:pPr>
            <a:r>
              <a:t>KI lager forslag.</a:t>
            </a:r>
            <a:br/>
            <a:r>
              <a:t>Mennesket avgjør.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KI i selve produktet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Mulig utvidelse: en personlig reiseassistent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937760" cy="356616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4535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SPILLEREN SPØR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4535424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4EFE1"/>
                </a:solidFill>
                <a:latin typeface="Aptos"/>
              </a:defRPr>
            </a:pPr>
            <a:r>
              <a:t>«Jeg har 3500 kr,</a:t>
            </a:r>
            <a:br/>
            <a:r>
              <a:t>7 dager igjen og er i Berlin.</a:t>
            </a:r>
            <a:br/>
            <a:r>
              <a:t>Hva bør jeg gjøre?»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C256"/>
                </a:solidFill>
                <a:latin typeface="Aptos"/>
              </a:defRPr>
            </a:pPr>
            <a:r>
              <a:t>KI ANALYSERER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økonomi og budsjett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tid igjen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posisjon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transportalternativer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jobber og aktiviteter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spillerens mål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09160"/>
            <a:ext cx="4572000" cy="749808"/>
          </a:xfrm>
          <a:prstGeom prst="roundRect">
            <a:avLst/>
          </a:prstGeom>
          <a:solidFill>
            <a:srgbClr val="2A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92861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A1826"/>
                </a:solidFill>
                <a:latin typeface="Aptos"/>
              </a:defRPr>
            </a:pPr>
            <a:r>
              <a:t>→ foreslår en strategi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6692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KI blir dermed også en del av brukeropplevelsen.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Teknologi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En moderne stack for webapp, data, simulering og KI</a:t>
            </a:r>
          </a:p>
        </p:txBody>
      </p:sp>
      <p:pic>
        <p:nvPicPr>
          <p:cNvPr id="6" name="Picture 5" descr="archite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71500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41732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56362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B4A7"/>
                </a:solidFill>
                <a:latin typeface="Aptos"/>
              </a:defRPr>
            </a:pPr>
            <a:r>
              <a:t>Claude /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93852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KI-assistert utvikling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1732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5168" y="156362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D9EDC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8" y="193852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utviklingsmiljø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889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C256"/>
                </a:solidFill>
                <a:latin typeface="Aptos"/>
              </a:defRPr>
            </a:pPr>
            <a:r>
              <a:t>Git +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26440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versjonskontroll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74320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88950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7053"/>
                </a:solidFill>
                <a:latin typeface="Aptos"/>
              </a:defRPr>
            </a:pPr>
            <a:r>
              <a:t>Node.js + npm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26440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webapplikasjon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06908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21538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B4A7"/>
                </a:solidFill>
                <a:latin typeface="Aptos"/>
              </a:defRPr>
            </a:pPr>
            <a:r>
              <a:t>Python + uv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59028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backend / simulering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069080"/>
            <a:ext cx="2331720" cy="1024128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4215384"/>
            <a:ext cx="1929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D9EDC"/>
                </a:solidFill>
                <a:latin typeface="Aptos"/>
              </a:defRPr>
            </a:pPr>
            <a:r>
              <a:t>Docker + Supabase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4590288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4EFE1"/>
                </a:solidFill>
                <a:latin typeface="Aptos"/>
              </a:defRPr>
            </a:pPr>
            <a:r>
              <a:t>miljø +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6235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Arkitekturen fastsettes når systemkravene er spesifisert.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7/10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320040"/>
            <a:ext cx="1828800" cy="402336"/>
          </a:xfrm>
          <a:prstGeom prst="roundRect">
            <a:avLst/>
          </a:prstGeom>
          <a:solidFill>
            <a:srgbClr val="1B444F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6064" y="411480"/>
            <a:ext cx="1536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4EFE1"/>
                </a:solidFill>
                <a:latin typeface="Aptos"/>
              </a:defRPr>
            </a:pPr>
            <a:r>
              <a:t>TRAVEL-TECH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Utviklingsstrategi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Bygg lite → test → kvalitetssikre → utvid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B4A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GRUNN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spiller + kart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20116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D9E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4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REISE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transport + kostnad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0116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BC25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SPILL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jobb + oppgaver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0116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EF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F705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LAGRING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data + progresjon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116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2168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B4A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stabilitet +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20116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91A4B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508760"/>
            <a:ext cx="1645920" cy="1417320"/>
          </a:xfrm>
          <a:prstGeom prst="roundRect">
            <a:avLst/>
          </a:prstGeom>
          <a:solidFill>
            <a:srgbClr val="122636"/>
          </a:solidFill>
          <a:ln>
            <a:solidFill>
              <a:srgbClr val="5D9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17190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D9E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2121408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EFE1"/>
                </a:solidFill>
                <a:latin typeface="Aptos"/>
              </a:defRPr>
            </a:pPr>
            <a:r>
              <a:t>KI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8712" y="2423160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1A4B2"/>
                </a:solidFill>
                <a:latin typeface="Aptos"/>
              </a:defRPr>
            </a:pPr>
            <a:r>
              <a:t>assistent + analyse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88620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MVP er minimumsmålet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Hver fase testes før neste lag bygges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Git gjør utviklingen sporbar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KI-generert kode vurderes av oss</a:t>
            </a:r>
          </a:p>
          <a:p>
            <a:pPr>
              <a:spcAft>
                <a:spcPts val="800"/>
              </a:spcAft>
              <a:defRPr sz="1500">
                <a:solidFill>
                  <a:srgbClr val="F4EFE1"/>
                </a:solidFill>
                <a:latin typeface="Aptos"/>
              </a:defRPr>
            </a:pPr>
            <a:r>
              <a:t>• Utvidelser prioriteres etter verdi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B4A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603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4EFE1"/>
                </a:solidFill>
                <a:latin typeface="Aptos"/>
              </a:defRPr>
            </a:pPr>
            <a:r>
              <a:t>Det som gjør prosjektet interessant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841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1A4B2"/>
                </a:solidFill>
                <a:latin typeface="Aptos"/>
              </a:defRPr>
            </a:pPr>
            <a:r>
              <a:t>Vi undersøker hvor langt KI kan tas i et større utviklingsløp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B4A7"/>
                </a:solidFill>
                <a:latin typeface="Aptos"/>
              </a:defRPr>
            </a:pPr>
            <a:r>
              <a:t>KODE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07592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Hvor godt fungerer KI-generert kode i et større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D9EDC"/>
                </a:solidFill>
                <a:latin typeface="Aptos"/>
              </a:defRPr>
            </a:pPr>
            <a:r>
              <a:t>INTEGRASJON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79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Hva skjer når flere KI-genererte moduler skal fungere sammen?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F7053"/>
                </a:solidFill>
                <a:latin typeface="Aptos"/>
              </a:defRPr>
            </a:pPr>
            <a:r>
              <a:t>KVALITET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72968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Hvilke feil og begrensninger oppstår?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23944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EBC256"/>
                </a:solidFill>
                <a:latin typeface="Aptos"/>
              </a:defRPr>
            </a:pPr>
            <a:r>
              <a:t>MENNESKET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0565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Hvor mye testing og kontroll er nødvendig?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566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AB4A7"/>
                </a:solidFill>
                <a:latin typeface="Aptos"/>
              </a:defRPr>
            </a:pPr>
            <a:r>
              <a:t>VERKTØYET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38344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4EFE1"/>
                </a:solidFill>
                <a:latin typeface="Aptos"/>
              </a:defRPr>
            </a:pPr>
            <a:r>
              <a:t>Når sparer KI tid – og når skaper det mer arbeid?</a:t>
            </a:r>
          </a:p>
        </p:txBody>
      </p:sp>
      <p:pic>
        <p:nvPicPr>
          <p:cNvPr id="16" name="Picture 15" descr="smal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25880"/>
            <a:ext cx="4434840" cy="24871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0" y="4160520"/>
            <a:ext cx="3886200" cy="960120"/>
          </a:xfrm>
          <a:prstGeom prst="roundRect">
            <a:avLst/>
          </a:prstGeom>
          <a:solidFill>
            <a:srgbClr val="122636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4306824"/>
            <a:ext cx="3483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AB4A7"/>
                </a:solidFill>
                <a:latin typeface="Aptos"/>
              </a:defRPr>
            </a:pPr>
            <a:r>
              <a:t>KJERNE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4681728"/>
            <a:ext cx="34838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4EFE1"/>
                </a:solidFill>
                <a:latin typeface="Aptos"/>
              </a:defRPr>
            </a:pPr>
            <a:r>
              <a:t>Produkt + eksperiment i samme prosjekt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303520"/>
            <a:ext cx="3886200" cy="822960"/>
          </a:xfrm>
          <a:prstGeom prst="roundRect">
            <a:avLst/>
          </a:prstGeom>
          <a:solidFill>
            <a:srgbClr val="122636"/>
          </a:solidFill>
          <a:ln>
            <a:solidFill>
              <a:srgbClr val="EBC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5449824"/>
            <a:ext cx="3483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BC256"/>
                </a:solidFill>
                <a:latin typeface="Aptos"/>
              </a:defRPr>
            </a:pPr>
            <a:r>
              <a:t>MÅL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824728"/>
            <a:ext cx="34838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4EFE1"/>
                </a:solidFill>
                <a:latin typeface="Aptos"/>
              </a:defRPr>
            </a:pPr>
            <a:r>
              <a:t>Et fungerende produkt – med dokumentert læring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9/10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715000"/>
            <a:ext cx="5212080" cy="566928"/>
          </a:xfrm>
          <a:prstGeom prst="roundRect">
            <a:avLst/>
          </a:prstGeom>
          <a:solidFill>
            <a:srgbClr val="1C3743"/>
          </a:solidFill>
          <a:ln>
            <a:solidFill>
              <a:srgbClr val="2AB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70448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AB4A7"/>
                </a:solidFill>
                <a:latin typeface="Aptos"/>
              </a:defRPr>
            </a:pPr>
            <a:r>
              <a:t>SPØRSMÅLET BAK PRODUKTET: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833872"/>
            <a:ext cx="24231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4EFE1"/>
                </a:solidFill>
                <a:latin typeface="Aptos"/>
              </a:defRPr>
            </a:pPr>
            <a:r>
              <a:t>Hvor langt kan vi ta KI i et reelt utviklingsløp?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777240"/>
            <a:ext cx="10195560" cy="5074920"/>
          </a:xfrm>
          <a:prstGeom prst="roundRect">
            <a:avLst/>
          </a:prstGeom>
          <a:solidFill>
            <a:srgbClr val="12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14300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F4EFE1"/>
                </a:solidFill>
                <a:latin typeface="Aptos"/>
              </a:defRPr>
            </a:pPr>
            <a:r>
              <a:t>WORLDBOUND: NOMAD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AB4A7"/>
                </a:solidFill>
                <a:latin typeface="Aptos"/>
              </a:defRPr>
            </a:pPr>
            <a:r>
              <a:t>ET SPILL. ET UTVIKLINGSEKSPERIMENT.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9144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4EFE1"/>
                </a:solidFill>
                <a:latin typeface="Aptos"/>
              </a:defRPr>
            </a:pPr>
            <a:r>
              <a:t>En moderne reise- og beslutningssimulator der spilleren reiser mellom destinasjoner, jobber for å tjene penger, håndterer begrenset tid og økonomi og tar valg som påvirker videre progresjon.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11880"/>
            <a:ext cx="9144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4EFE1"/>
                </a:solidFill>
                <a:latin typeface="Aptos"/>
              </a:defRPr>
            </a:pPr>
            <a:r>
              <a:t>Samtidig bruker vi KI-agenter gjennom hele utviklingsprosessen – fra systemdesign og programmering til testing, code review og feilsøking. Målet er å undersøke hvor godt KI kan brukes til å utvikle og kvalitetssikre en kompleks programvareapplikasjon.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16636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EBC256"/>
                </a:solidFill>
                <a:latin typeface="Aptos"/>
              </a:defRPr>
            </a:pPr>
            <a:r>
              <a:t>REISE  •  BESLUTNINGER  •  KI  •  PROGRAMMERING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91A4B2"/>
                </a:solidFill>
                <a:latin typeface="Aptos"/>
              </a:defRPr>
            </a:pPr>
            <a:r>
              <a:t>WORLDBOUND: NOMAD   •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